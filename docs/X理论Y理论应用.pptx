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27432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</a:defRPr>
            </a:pPr>
            <a:r>
              <a:t>X理论与Y理论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5A5A6"/>
                </a:solidFill>
              </a:defRPr>
            </a:pPr>
            <a:r>
              <a:t>在各个领域的典型应用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一、理论起源与命名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二、古代中国的典型应用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三、古代西方的典型应用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四、现代西方的典型应用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五、现代中国的典型应用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六、丰田模式：X/Y整合典范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七、军事领域的典型应用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八、教育领域的典型应用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九、其他领域应用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十、总结与启示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理论起源与命名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X理论与Y理论的起源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道格拉斯·麦格雷戈（Douglas McGregor）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《企业的人性面》（The Human Side of Enterprise，1960年）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提出两套对立的人性假设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麦格雷戈刻意使用X和Y作为中性占位符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X理论 vs Y理论 核心假设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人天生厌恶工作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必须用奖惩控制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人缺乏上进心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逃避责任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只关心安全感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工作是自然的需要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人有自我导向能力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内在动机比外在更重要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大多数愿意承担责任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创造力广泛存在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古代中国的典型应用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古代中国：商鞅变法 vs 道家儒家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商鞅变法：首级计功制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斩首一级 = 赐田一顷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连坐法：一人犯罪他人连坐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轻罪重刑：弃灰于道者黥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公元前293年伊阙之战斩首24万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庄子：逍遥游，追求精神自由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陶渊明：不为五斗米折腰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王阳明：致良知，知行合一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海瑞：明知必死仍上疏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岳家军：冻死不拆屋，饿死不掳掠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外儒内法：复合激励体系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表层（儒家）- 道德教化、君轻民贵 -&gt; Y理论</a:t>
            </a:r>
          </a:p>
          <a:p>
            <a:pPr>
              <a:spcAft>
                <a:spcPts val="1200"/>
              </a:spcAft>
              <a:defRPr sz="2000">
                <a:solidFill>
                  <a:srgbClr val="E74C3C"/>
                </a:solidFill>
              </a:defRPr>
            </a:pPr>
            <a:r>
              <a:t>• 深层（法家）- 赏罚必信、连坐监控 -&gt; X理论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汉宣帝: 汉家自有制度，本以霸王道杂之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古代西方的典型应用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古代西方：斯巴达 vs 苏格拉底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斯巴达军事共同体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7岁离开家庭公共抚养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希洛人：永久的'大棒'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克里普提：刺杀希洛人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军事优势持续约200年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苏格拉底：产婆术，唤醒内在认知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第欧根尼：别挡住我的阳光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马可·奥勒留：皇帝也是哲学家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亚里士多德：幸福是灵魂合德性的活动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斯多葛：内心安宁是终极追求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罗马军团：X/Y混合体系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胡萝卜 - 军饷、战利品25%、退役金、授田</a:t>
            </a:r>
          </a:p>
          <a:p>
            <a:pPr>
              <a:spcAft>
                <a:spcPts val="1200"/>
              </a:spcAft>
              <a:defRPr sz="2000">
                <a:solidFill>
                  <a:srgbClr val="E74C3C"/>
                </a:solidFill>
              </a:defRPr>
            </a:pPr>
            <a:r>
              <a:t>• 大棒 - 十抽一杀（哗变部队10%死亡率）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Y理论元素 - 鹰旗的神圣象征，为罗马而战的公民精神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波利比乌斯：罗马军团优势在于严格的纪律和激励机制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现代西方的典型应用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现代西方：泰勒制 vs 谷歌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泰勒制：科学管理四大原则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动作研究、时间研究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差异化计件工资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福特T型车：装配93分钟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亚马逊：监控手环、精确到秒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谷歌：心理安全是最高因素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亚里士多德项目：180个团队研究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20%自由时间：Gmail等诞生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弹性工作制、扁平化结构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微软纳德拉：成长型思维转型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现代西方成果数据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谷歌20%时间成果 - Gmail、Google News、AdSense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微软转型 - 市值3000亿-&gt;2.8万亿美元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员工敬业度 - 46%-&gt;91%</a:t>
            </a:r>
          </a:p>
          <a:p>
            <a:pPr>
              <a:spcAft>
                <a:spcPts val="1200"/>
              </a:spcAft>
              <a:defRPr sz="2000">
                <a:solidFill>
                  <a:srgbClr val="E74C3C"/>
                </a:solidFill>
              </a:defRPr>
            </a:pPr>
            <a:r>
              <a:t>• 亚马逊争议 - 监控手环、裁员算法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现代中国的典型应用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现代中国：计划经济 vs 改革开放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1949-1978年：极端X理论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统包统配、终身就业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政治审查、户籍控制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大跃进激励失败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信息扭曲导致结构崩溃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1978年包产到户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分田到户，剩余归己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粮食3亿吨→4亿吨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华为：虚拟股+狼性文化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字节：Context not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中国互联网企业的Y理论探索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海底捞 - 员工授权、冻死不拆屋式服务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员工流失率 - 10%（行业60%+）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字节跳动 - OKR透明、内部论坛</a:t>
            </a:r>
          </a:p>
          <a:p>
            <a:pPr>
              <a:spcAft>
                <a:spcPts val="1200"/>
              </a:spcAft>
              <a:defRPr sz="2000">
                <a:solidFill>
                  <a:srgbClr val="E74C3C"/>
                </a:solidFill>
              </a:defRPr>
            </a:pPr>
            <a:r>
              <a:t>• 困境 - 996文化暴露口号与实操分裂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丰田模式：X/Y整合典范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丰田生产方式（TPS）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支柱一：JIT准时化 - 拉动式生产、单件流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支柱二：自働化 - 人字旁的自动化、停线权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地基 - 尊重人性、持续改善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大野耐一：让异常停下来，是改善的前提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丰田模式的整合智慧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846320"/>
            <a:ext cx="640080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底层：X理论（基础保障）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566160"/>
            <a:ext cx="4572000" cy="109728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749039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中层：规范与文化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27432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顶层：Y理论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底层：X理论 = 标准作业、流程控制、绩效考核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顶层：Y理论 = 持续改善、停线权、看板拉动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结论：X理论是骨骼，Y理论是灵魂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丰田改善提案制度（2022）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日本本土 - 每员工45条/年，85%实施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北美 - 12条/年，70%实施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中国 - 8条/年，60%实施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奖励结构 - 以认可和成长为主，金钱为辅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军事领域的典型应用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军事激励：X vs 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秦军：首级计功+连坐法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斯巴达：军事共同体+希洛人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拿破仑：征俄失败（无利可图）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X理论有效条件：短期、低烈度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岳家军：忠义驱动，以少胜多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志愿军：炒面+雪，坚守43天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以色列：全民兵役，使命感召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Y理论有效条件：长期、高烈度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军事激励的层次模型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Y理论层 - 信仰/意识形态、荣誉感、战友生死依托</a:t>
            </a:r>
          </a:p>
          <a:p>
            <a:pPr>
              <a:spcAft>
                <a:spcPts val="1200"/>
              </a:spcAft>
              <a:defRPr sz="2000">
                <a:solidFill>
                  <a:srgbClr val="E74C3C"/>
                </a:solidFill>
              </a:defRPr>
            </a:pPr>
            <a:r>
              <a:t>• X理论层 - 赏罚制度、训练习惯、物质保障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结论 - Y理论决定上限，X理论决定下限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失去Y = 乌合之众；失去X = 行尸走肉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教育领域的典型应用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教育：应试教育 vs 蒙特梭利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题海战术：重复强化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排名制度：外部竞争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惩罚性作业：错误惩罚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升学率考核：学校被指标驱动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PISA：中国数学第一、幸福感倒数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儿童自主选择学习内容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无考试、无作业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内在满足感驱动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蒙特梭利毕业生：创造力更强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芬兰：玩耍优先、晚入学7岁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其他领域的典型应用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各领域X/Y理论应用一览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领域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X理论代表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Y理论代表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体育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兴奋剂、军事化训练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科比凌晨四点训练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宗教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赎罪券、异端裁判所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因信称义、禅宗顿悟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政府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法治、惩罚机制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公民责任、志愿服务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非营利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福利依赖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特蕾莎修女使命感召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家庭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体罚、物质奖励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正面管教、无条件接纳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创业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对赌协议、淘汰压力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使命驱动、愿景驱动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总结与启示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X理论与Y理论对比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1148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人性假设：消极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核心驱动力：外在奖惩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管理重心：控制行为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适用场景：简单重复劳动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领导风格：命令式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监督程度：严密监控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4114800" cy="5029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Y 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人性假设：积极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核心驱动力：内在动机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管理重心：释放潜能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适用场景：知识创新工作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领导风格：授权式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监督程度：高度信任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最佳实践：混合模式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846320"/>
            <a:ext cx="640080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底层：X理论（基础保障）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566160"/>
            <a:ext cx="4572000" cy="109728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749039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中层：规范与文化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27432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顶层：Y理论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底层：X理论 — 合理薪酬、清晰职责、必要纪律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顶层：Y理论 — 使命愿景、成长机会、认可表彰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核心启示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1. 非此即彼是错误的 - 成熟组织需要X/Y动态平衡</a:t>
            </a:r>
          </a:p>
          <a:p>
            <a:pPr>
              <a:spcAft>
                <a:spcPts val="1200"/>
              </a:spcAft>
              <a:defRPr sz="2000">
                <a:solidFill>
                  <a:srgbClr val="E74C3C"/>
                </a:solidFill>
              </a:defRPr>
            </a:pPr>
            <a:r>
              <a:t>• 2. X理论是必要条件 - 防止混乱、维持秩序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3. Y理论是充分条件 - 激发超越、持续创新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4. 情境决定配比 - 初创期Y为主，成熟期X增加</a:t>
            </a:r>
          </a:p>
          <a:p>
            <a:pPr>
              <a:spcAft>
                <a:spcPts val="1200"/>
              </a:spcAft>
              <a:defRPr sz="2000">
                <a:solidFill>
                  <a:srgbClr val="27AE60"/>
                </a:solidFill>
              </a:defRPr>
            </a:pPr>
            <a:r>
              <a:t>• 5. Y理论需要前提 - 高素质员工+心理安全文化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27432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5A5A6"/>
                </a:solidFill>
              </a:defRPr>
            </a:pPr>
            <a:r>
              <a:t>X理论与Y理论 · 在各个领域的典型应用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