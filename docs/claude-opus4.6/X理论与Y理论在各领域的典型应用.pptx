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4389120"/>
            <a:ext cx="9006840" cy="36576"/>
          </a:xfrm>
          <a:prstGeom prst="rect">
            <a:avLst/>
          </a:prstGeom>
          <a:solidFill>
            <a:srgbClr val="E8523F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0" y="-45720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2D3561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7132320" y="109728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2D3561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X理论与Y理论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在各领域的典型应用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1371600" cy="4572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 McGregor · 《企业的人性面》· 1960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内容概览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914400" cy="36576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73152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61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理论溯源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麦格雷戈的人性假设框架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73152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61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X理论详解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人性悲观假设与外部驱动逻辑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10312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103120"/>
            <a:ext cx="54864" cy="73152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Y理论详解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人性乐观假设与内在激励逻辑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10312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03120"/>
            <a:ext cx="54864" cy="73152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古代应用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从法家到雅典民主的东西方实践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01752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017520"/>
            <a:ext cx="54864" cy="73152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090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军事应用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从亚述到特种部队的管理演变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017520"/>
            <a:ext cx="54864" cy="73152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090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丰田模式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8348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X与Y精妙融合的现代典范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93192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931920"/>
            <a:ext cx="54864" cy="73152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005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教育·科技·医疗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68680" y="4315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多领域的横向对比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93192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931920"/>
            <a:ext cx="54864" cy="73152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4005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核心规律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983480" y="4315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跨领域的总结性洞察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E8523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6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60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X理论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人性悲观假设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404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核心假设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840480" y="960120"/>
            <a:ext cx="4846320" cy="8229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960120"/>
            <a:ext cx="54864" cy="82296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10" name="Text 7"/>
          <p:cNvSpPr/>
          <p:nvPr/>
        </p:nvSpPr>
        <p:spPr>
          <a:xfrm>
            <a:off x="4069080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人天生厌恶工作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0" y="1344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只要有可能就会逃避，工作是不得不忍受的负担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40480" y="1965960"/>
            <a:ext cx="4846320" cy="8229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40480" y="1965960"/>
            <a:ext cx="54864" cy="82296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15" name="Text 12"/>
          <p:cNvSpPr/>
          <p:nvPr/>
        </p:nvSpPr>
        <p:spPr>
          <a:xfrm>
            <a:off x="406908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7200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必须被强迫才会工作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0" y="2350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需要外部强制、惩罚威胁和奖赏引诱来驱动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840480" y="2971800"/>
            <a:ext cx="4846320" cy="8229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9" name="Shape 16"/>
          <p:cNvSpPr/>
          <p:nvPr/>
        </p:nvSpPr>
        <p:spPr>
          <a:xfrm>
            <a:off x="3840480" y="2971800"/>
            <a:ext cx="54864" cy="82296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20" name="Text 17"/>
          <p:cNvSpPr/>
          <p:nvPr/>
        </p:nvSpPr>
        <p:spPr>
          <a:xfrm>
            <a:off x="406908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5720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宁愿被领导，逃避责任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0" y="3355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渴望安全感，不愿面对自主决策的不确定性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840480" y="3977640"/>
            <a:ext cx="4846320" cy="82296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4" name="Shape 21"/>
          <p:cNvSpPr/>
          <p:nvPr/>
        </p:nvSpPr>
        <p:spPr>
          <a:xfrm>
            <a:off x="3840480" y="3977640"/>
            <a:ext cx="54864" cy="82296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25" name="Text 22"/>
          <p:cNvSpPr/>
          <p:nvPr/>
        </p:nvSpPr>
        <p:spPr>
          <a:xfrm>
            <a:off x="4069080" y="4023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572000" y="4023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缺乏进取心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0" y="4361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满足于'过得去'，首要目标是保住饭碗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6B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2ECC71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endParaRPr lang="en-US" sz="16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60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Y理论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人性乐观假设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404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核心假设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840480" y="960120"/>
            <a:ext cx="4846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40480" y="960120"/>
            <a:ext cx="54864" cy="8229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0" name="Text 7"/>
          <p:cNvSpPr/>
          <p:nvPr/>
        </p:nvSpPr>
        <p:spPr>
          <a:xfrm>
            <a:off x="4069080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工作如游戏般自然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0" y="1344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适当条件下，工作可以成为满足感的重要来源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40480" y="1965960"/>
            <a:ext cx="4846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840480" y="1965960"/>
            <a:ext cx="54864" cy="8229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Text 12"/>
          <p:cNvSpPr/>
          <p:nvPr/>
        </p:nvSpPr>
        <p:spPr>
          <a:xfrm>
            <a:off x="406908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7200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人可以自我引导和控制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0" y="2350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认同目标后不需要外部强制，自发投入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840480" y="2971800"/>
            <a:ext cx="4846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840480" y="2971800"/>
            <a:ext cx="54864" cy="8229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0" name="Text 17"/>
          <p:cNvSpPr/>
          <p:nvPr/>
        </p:nvSpPr>
        <p:spPr>
          <a:xfrm>
            <a:off x="406908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5720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主动寻求责任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0" y="3355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逃避责任是不良管理的后果，非天性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840480" y="3977640"/>
            <a:ext cx="4846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840480" y="3977640"/>
            <a:ext cx="54864" cy="8229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5" name="Text 22"/>
          <p:cNvSpPr/>
          <p:nvPr/>
        </p:nvSpPr>
        <p:spPr>
          <a:xfrm>
            <a:off x="4069080" y="4023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572000" y="4023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创造力广泛分布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0" y="4361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大多数组织只利用了员工极小部分的智力潜能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X理论 vs Y理论：核心对比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4114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51760" y="914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X理论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77840" y="914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Y理论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20116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1325880"/>
            <a:ext cx="29260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577840" y="1325880"/>
            <a:ext cx="29260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25880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工作动机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325880"/>
            <a:ext cx="2926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外部奖惩驱动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325880"/>
            <a:ext cx="2926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内在成就感驱动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1810512"/>
            <a:ext cx="2011680" cy="48463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14" name="Shape 12"/>
          <p:cNvSpPr/>
          <p:nvPr/>
        </p:nvSpPr>
        <p:spPr>
          <a:xfrm>
            <a:off x="2651760" y="1810512"/>
            <a:ext cx="2926080" cy="48463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1810512"/>
            <a:ext cx="2926080" cy="48463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810512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责任感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1810512"/>
            <a:ext cx="2926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外部压力迫使承担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1810512"/>
            <a:ext cx="2926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适当条件下主动寻求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295144"/>
            <a:ext cx="20116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651760" y="2295144"/>
            <a:ext cx="29260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0" y="2295144"/>
            <a:ext cx="29260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295144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决策方式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2295144"/>
            <a:ext cx="2926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集中决策，员工执行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2295144"/>
            <a:ext cx="2926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分散决策，信任判断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2779776"/>
            <a:ext cx="2011680" cy="48463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26" name="Shape 24"/>
          <p:cNvSpPr/>
          <p:nvPr/>
        </p:nvSpPr>
        <p:spPr>
          <a:xfrm>
            <a:off x="2651760" y="2779776"/>
            <a:ext cx="2926080" cy="48463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27" name="Shape 25"/>
          <p:cNvSpPr/>
          <p:nvPr/>
        </p:nvSpPr>
        <p:spPr>
          <a:xfrm>
            <a:off x="5577840" y="2779776"/>
            <a:ext cx="2926080" cy="48463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2779776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错误处理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51760" y="2779776"/>
            <a:ext cx="2926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追究个人，惩罚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2779776"/>
            <a:ext cx="2926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分析系统，改进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3264408"/>
            <a:ext cx="20116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651760" y="3264408"/>
            <a:ext cx="29260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5577840" y="3264408"/>
            <a:ext cx="29260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264408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沟通方式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51760" y="3264408"/>
            <a:ext cx="2926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单向命令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77840" y="3264408"/>
            <a:ext cx="2926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双向解释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3749040"/>
            <a:ext cx="2011680" cy="48463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38" name="Shape 36"/>
          <p:cNvSpPr/>
          <p:nvPr/>
        </p:nvSpPr>
        <p:spPr>
          <a:xfrm>
            <a:off x="2651760" y="3749040"/>
            <a:ext cx="2926080" cy="48463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39" name="Shape 37"/>
          <p:cNvSpPr/>
          <p:nvPr/>
        </p:nvSpPr>
        <p:spPr>
          <a:xfrm>
            <a:off x="5577840" y="3749040"/>
            <a:ext cx="2926080" cy="484632"/>
          </a:xfrm>
          <a:prstGeom prst="rect">
            <a:avLst/>
          </a:prstGeom>
          <a:solidFill>
            <a:srgbClr val="E8EAF0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749040"/>
            <a:ext cx="20116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激励类比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651760" y="3749040"/>
            <a:ext cx="2926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推力——从背后推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77840" y="3749040"/>
            <a:ext cx="2926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引力——前方目标拉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080" y="4434840"/>
            <a:ext cx="54864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5" name="Text 43"/>
          <p:cNvSpPr/>
          <p:nvPr/>
        </p:nvSpPr>
        <p:spPr>
          <a:xfrm>
            <a:off x="868680" y="4434840"/>
            <a:ext cx="7452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核心区别：X理论的激励像推力（推力消失则运动停止），Y理论像引力（目标越近动力越强）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古代中国的应用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914400" cy="36576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3794760"/>
          </a:xfrm>
          <a:prstGeom prst="rect">
            <a:avLst/>
          </a:prstGeom>
          <a:solidFill>
            <a:srgbClr val="2D35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X理论：法家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连坐法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084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一人犯罪邻里同罚，每个人都变成监督者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军功爵制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798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斩首计功，从农民到封侯有清晰上升通道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2552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严刑峻法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5112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轻罪重罚、'以刑去刑'的恐惧威慑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3968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42245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秦朝二世而亡——纯X理论的脆弱性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1051560"/>
            <a:ext cx="3931920" cy="3794760"/>
          </a:xfrm>
          <a:prstGeom prst="rect">
            <a:avLst/>
          </a:prstGeom>
          <a:solidFill>
            <a:srgbClr val="1B3A2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3444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Y理论：道家·儒家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02920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无为而治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029200" y="2084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'我无为而民自化'——管理者退后，民众自觉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0" y="2542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文景之治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029200" y="2798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减税轻徭，不折腾，国库自然充盈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32552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贞观之治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029200" y="35112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鼓励直言进谏，臣子是思考者而非工具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0" y="39684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德治教化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029200" y="42245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以德行感召，'上下同欲者胜'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古代西方的应用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914400" cy="36576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X理论典型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4864" cy="77724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斯巴达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男孩7岁离家军训，极端纪律消灭个人意志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54864" cy="77724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24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罗马军团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十一抽杀+勋章体系，梯度精密的赏罚设计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54864" cy="77724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844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中世纪教会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地狱恐惧+天堂许诺，赎罪券量化灵魂激励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solidFill>
            <a:srgbClr val="1B6B4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Y理论典型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0" y="1645920"/>
            <a:ext cx="54864" cy="7772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雅典民主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公民大会直接参政，抽签制信任普通人的能力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606040"/>
            <a:ext cx="54864" cy="7772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2624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罗马共和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荣誉晋升无薪酬，辛辛纳图斯的自觉责任感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3566160"/>
            <a:ext cx="54864" cy="7772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35844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本笃修道院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自愿承诺，院长是牧者而非监工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军事领域：从机械服从到任务式指挥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0"/>
          </a:xfrm>
          <a:prstGeom prst="line">
            <a:avLst/>
          </a:prstGeom>
          <a:noFill/>
          <a:ln w="25400">
            <a:solidFill>
              <a:srgbClr val="E852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960120"/>
            <a:ext cx="274320" cy="274320"/>
          </a:xfrm>
          <a:prstGeom prst="ellipse">
            <a:avLst/>
          </a:prstGeom>
          <a:solidFill>
            <a:srgbClr val="E8523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960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亚述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恐惧系统化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960120"/>
            <a:ext cx="274320" cy="274320"/>
          </a:xfrm>
          <a:prstGeom prst="ellipse">
            <a:avLst/>
          </a:prstGeom>
          <a:solidFill>
            <a:srgbClr val="E8523F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960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罗马军团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精密赏罚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274320" cy="274320"/>
          </a:xfrm>
          <a:prstGeom prst="ellipse">
            <a:avLst/>
          </a:prstGeom>
          <a:solidFill>
            <a:srgbClr val="E8523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960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腓特烈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机械纪律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960120"/>
            <a:ext cx="274320" cy="27432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960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拿破仑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信念驱动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0" y="960120"/>
            <a:ext cx="274320" cy="27432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960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任务式指挥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自主决策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103120"/>
            <a:ext cx="3931920" cy="2697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关键教训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2697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一战索姆河：X理论集中指挥导致一天57,000伤亡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090672"/>
            <a:ext cx="3200400" cy="9144"/>
          </a:xfrm>
          <a:prstGeom prst="rect">
            <a:avLst/>
          </a:prstGeom>
          <a:solidFill>
            <a:srgbClr val="1A1F36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二战法国战役：Y理论任务式指挥创造闪击奇迹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593592"/>
            <a:ext cx="3200400" cy="9144"/>
          </a:xfrm>
          <a:prstGeom prst="rect">
            <a:avLst/>
          </a:prstGeom>
          <a:solidFill>
            <a:srgbClr val="1A1F36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703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同一支德军：Y理论→辉煌胜利，X理论→惨痛失败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096512"/>
            <a:ext cx="3200400" cy="9144"/>
          </a:xfrm>
          <a:prstGeom prst="rect">
            <a:avLst/>
          </a:prstGeom>
          <a:solidFill>
            <a:srgbClr val="1A1F36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206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结论：计划在接触敌人的第一刻就失效了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103120"/>
            <a:ext cx="3931920" cy="269748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现代演变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29200" y="2697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以色列IDF：Rosh Gadol主动思考文化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0" y="3090672"/>
            <a:ext cx="3200400" cy="9144"/>
          </a:xfrm>
          <a:prstGeom prst="rect">
            <a:avLst/>
          </a:prstGeom>
          <a:solidFill>
            <a:srgbClr val="1B3A2D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特种部队：选拔用X，日常管理用Y的极致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3593592"/>
            <a:ext cx="3200400" cy="9144"/>
          </a:xfrm>
          <a:prstGeom prst="rect">
            <a:avLst/>
          </a:prstGeom>
          <a:solidFill>
            <a:srgbClr val="1B3A2D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703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美军转型：从越战微管理到指挥官意图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0" y="4096512"/>
            <a:ext cx="3200400" cy="9144"/>
          </a:xfrm>
          <a:prstGeom prst="rect">
            <a:avLst/>
          </a:prstGeom>
          <a:solidFill>
            <a:srgbClr val="1B3A2D">
              <a:alpha val="5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4206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规律：X理论建基础，Y理论释放上限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国共两军：同一批人，不同的管理，不同的结局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国民党军队 — X理论主导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抓壮丁强制征兵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64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从第一刻起无心理契约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系统性克扣军饷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最基本的胡萝卜被抽走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8254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随意体罚与特务监控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081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不可预测的惩罚更具破坏性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4838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派系政治分而治之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739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将领首要考虑是自保而非全局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142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398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友军见死不救、大规模投降溃逃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1B6B4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共产党军队 — Y理论主导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支部建在连上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1764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士兵从被管理对象变为参与者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官兵平等·废除肉刑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423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消除可见等级差异，建立信任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8254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诉苦运动·立功运动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081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外在动机→内在动机的系统转化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4838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优待俘虏·即俘即补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739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Y理论的跨组织瓦解与转化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4142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4398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塔山死守、孟良崮主动协同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丰田模式：X与Y的精妙融合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731520"/>
            <a:ext cx="914400" cy="36576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X理论工具层：问题暴露系统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2377440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标准化作业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精确到秒的流程规定，让偏差无处藏身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377440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准时化(JIT)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零库存暴露问题——降低水位看见石头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377440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可视化管理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所有状态透明可见的柔性监督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暴露问题  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2834640"/>
            <a:ext cx="7315200" cy="178308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Y理论信念层：问题解决系统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88720" y="3337560"/>
            <a:ext cx="2103120" cy="1097280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19" name="Text 17"/>
          <p:cNvSpPr/>
          <p:nvPr/>
        </p:nvSpPr>
        <p:spPr>
          <a:xfrm>
            <a:off x="1298448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安灯系统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3657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任何工人可拉绳停线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——信任一线判断力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66160" y="3337560"/>
            <a:ext cx="2103120" cy="1097280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22" name="Text 20"/>
          <p:cNvSpPr/>
          <p:nvPr/>
        </p:nvSpPr>
        <p:spPr>
          <a:xfrm>
            <a:off x="3675888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改善提案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75888" y="3657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百万级提案，象征性奖金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——内在动机驱动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3337560"/>
            <a:ext cx="2103120" cy="1097280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25" name="Text 23"/>
          <p:cNvSpPr/>
          <p:nvPr/>
        </p:nvSpPr>
        <p:spPr>
          <a:xfrm>
            <a:off x="6053328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苏格拉底提问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53328" y="3657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不给答案只提问题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——培养独立思考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教育 · 科技 · 医疗：三领域对比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1645920" cy="118872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1115568"/>
            <a:ext cx="320040" cy="32004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115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1155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普鲁士应试模式：外部奖惩驱动，短期有效但扼杀求知欲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618488"/>
            <a:ext cx="320040" cy="3200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1618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6184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芬兰/蒙特梭利：自主学习、极少考试，PISA名列前茅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1645920" cy="1188720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774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科技企业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86000" y="2487168"/>
            <a:ext cx="320040" cy="32004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2487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4871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亚马逊仓库：算法监控每个动作，数字泰勒制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0" y="2990088"/>
            <a:ext cx="320040" cy="3200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2990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29900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Netflix：无限休假、信息透明，但以高门槛选人为前提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49040"/>
            <a:ext cx="1645920" cy="118872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490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286000" y="3858768"/>
            <a:ext cx="320040" cy="32004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38587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0" y="38587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手术清单：强制核对流程，错误代价极高时不可替代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0" y="4361688"/>
            <a:ext cx="320040" cy="3200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0" y="4361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0" y="43616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非惩罚性报告：安全环境让差错暴露，系统持续改进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跨领域核心规律：三个关键变量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731520"/>
            <a:ext cx="914400" cy="36576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606040" cy="347472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5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错误代价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914400" cy="27432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代价高且不可逆 → X理论刚性约束必需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代价可控可学习 → Y理论容错空间更优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06040" cy="347472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可标准化程度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74720" y="2377440"/>
            <a:ext cx="914400" cy="27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5603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高度可标准化 → X理论精确控制最高效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需要创造性判断 → Y理论自主空间释放潜能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06040" cy="347472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30936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时间尺度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09360" y="2377440"/>
            <a:ext cx="914400" cy="2743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5603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X理论短期见效快，但长期维持成本递增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Y理论短期见效慢，但一旦建立更持久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8523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最有效的组织不在X和Y之间选择，而是像精密变速箱一样根据情境灵活切换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终极启示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914400" cy="36576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E852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1887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工具是中性的，使用意图决定它是锁链还是阶梯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1645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同样是'标准化'，泰勒制下是压制，丰田模式下是赋能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331720"/>
            <a:ext cx="73152" cy="1051560"/>
          </a:xfrm>
          <a:prstGeom prst="rect">
            <a:avLst/>
          </a:prstGeom>
          <a:solidFill>
            <a:srgbClr val="E8523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60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423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X理论让人'完成任务'，Y理论让人'超越期望'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28803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X能维持'不逃跑'的底线，Y能激发'主动牺牲'的上限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566160"/>
            <a:ext cx="73152" cy="1051560"/>
          </a:xfrm>
          <a:prstGeom prst="rect">
            <a:avLst/>
          </a:prstGeom>
          <a:solidFill>
            <a:srgbClr val="E8523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947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6576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Y理论的能力是肌肉，不是开关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4114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平时不培养自主判断力，危机时想授权也来不及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一个组织如何对待其最底层的成员，决定了这个组织在最严峻考验中的生死。你如何投资于人，人就如何回报于你。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731520"/>
            <a:ext cx="9006840" cy="36576"/>
          </a:xfrm>
          <a:prstGeom prst="rect">
            <a:avLst/>
          </a:prstGeom>
          <a:solidFill>
            <a:srgbClr val="E8523F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E8523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2ECC7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endParaRPr lang="en-US" sz="14000" dirty="0"/>
          </a:p>
        </p:txBody>
      </p:sp>
      <p:sp>
        <p:nvSpPr>
          <p:cNvPr id="6" name="Text 4"/>
          <p:cNvSpPr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用纪律守住底线，用信任释放上限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3474720"/>
            <a:ext cx="1828800" cy="36576"/>
          </a:xfrm>
          <a:prstGeom prst="rect">
            <a:avLst/>
          </a:prstGeom>
          <a:solidFill>
            <a:srgbClr val="E8523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Douglas McGregor《The Human Side of Enterprise》(1960)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X理论与Y理论在各领域的典型应用</dc:title>
  <dc:subject>PptxGenJS Presentation</dc:subject>
  <dc:creator>Claude</dc:creator>
  <cp:lastModifiedBy>Claude</cp:lastModifiedBy>
  <cp:revision>1</cp:revision>
  <dcterms:created xsi:type="dcterms:W3CDTF">2026-03-28T13:43:20Z</dcterms:created>
  <dcterms:modified xsi:type="dcterms:W3CDTF">2026-03-28T13:43:20Z</dcterms:modified>
</cp:coreProperties>
</file>